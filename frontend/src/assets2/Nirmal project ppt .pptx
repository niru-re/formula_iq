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4"/>
  </p:notesMasterIdLst>
  <p:sldIdLst>
    <p:sldId id="278" r:id="rId3"/>
    <p:sldId id="280" r:id="rId4"/>
    <p:sldId id="279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74" r:id="rId13"/>
  </p:sldIdLst>
  <p:sldSz cx="12192000" cy="6858000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57CD"/>
    <a:srgbClr val="954ECA"/>
    <a:srgbClr val="8C3FC5"/>
    <a:srgbClr val="7C35B1"/>
    <a:srgbClr val="7E36B4"/>
    <a:srgbClr val="C031ED"/>
    <a:srgbClr val="421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2688" autoAdjust="0"/>
  </p:normalViewPr>
  <p:slideViewPr>
    <p:cSldViewPr snapToGrid="0" showGuides="1">
      <p:cViewPr>
        <p:scale>
          <a:sx n="75" d="100"/>
          <a:sy n="75" d="100"/>
        </p:scale>
        <p:origin x="1128" y="3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F3282-A6FA-49E3-B4F1-1023AFF5A2E0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E6B75-5EE8-4EF1-BD15-F56B6E63D9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296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45684-9757-A6B9-A5C3-2FBA6A427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B11CE-4F4B-A6CB-EA57-2760AED07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A3FAE9-6C22-1D20-8647-58B7E6DE9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5BF16-9CD4-45F5-BBB2-17EE715DB8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DE6B75-5EE8-4EF1-BD15-F56B6E63D94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983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E6B75-5EE8-4EF1-BD15-F56B6E63D94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010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E6B75-5EE8-4EF1-BD15-F56B6E63D94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99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IN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  <a:endParaRPr lang="en-IN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 indent="-228600"/>
            <a:r>
              <a:rPr lang="en-US" altLang="en-US" dirty="0"/>
              <a:t>Second level</a:t>
            </a:r>
          </a:p>
          <a:p>
            <a:pPr lvl="2" indent="-228600"/>
            <a:r>
              <a:rPr lang="en-US" altLang="en-US" dirty="0"/>
              <a:t>Third level</a:t>
            </a:r>
          </a:p>
          <a:p>
            <a:pPr lvl="3" indent="-228600"/>
            <a:r>
              <a:rPr lang="en-US" altLang="en-US" dirty="0"/>
              <a:t>Fourth level</a:t>
            </a:r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 indent="-228600"/>
            <a:r>
              <a:rPr lang="en-US" altLang="en-US" dirty="0"/>
              <a:t>Second level</a:t>
            </a:r>
          </a:p>
          <a:p>
            <a:pPr lvl="2" indent="-228600"/>
            <a:r>
              <a:rPr lang="en-US" altLang="en-US" dirty="0"/>
              <a:t>Third level</a:t>
            </a:r>
          </a:p>
          <a:p>
            <a:pPr lvl="3" indent="-228600"/>
            <a:r>
              <a:rPr lang="en-US" altLang="en-US" dirty="0"/>
              <a:t>Fourth level</a:t>
            </a:r>
          </a:p>
          <a:p>
            <a:pPr lvl="4" indent="-228600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3BBE11-F0BB-4922-A557-F9EC762BEDC4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02-05-2026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9CFEC8-458F-4632-B366-332647AE03B9}" type="slidenum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nfo.amravati@ghru.edu.i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hyperlink" Target="http://www.ghrietn.raisoni.net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1169988" y="2992438"/>
            <a:ext cx="10031413" cy="3429000"/>
          </a:xfrm>
          <a:prstGeom prst="rect">
            <a:avLst/>
          </a:prstGeom>
        </p:spPr>
        <p:txBody>
          <a:bodyPr>
            <a:normAutofit fontScale="40000" lnSpcReduction="20000"/>
          </a:bodyPr>
          <a:lstStyle/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kumimoji="0" lang="en-US" sz="2600" b="1" u="sng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                    </a:t>
            </a:r>
            <a:r>
              <a:rPr kumimoji="0" lang="en-US" sz="45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Guide:</a:t>
            </a: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 		                </a:t>
            </a:r>
          </a:p>
          <a:p>
            <a:pPr marL="274320" marR="0" indent="-27432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lang="en-US" sz="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Guide Name </a:t>
            </a:r>
            <a:endParaRPr lang="en-US" sz="4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kumimoji="0" lang="en-US" sz="96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lang="en-US" sz="18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algn="ctr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6000" b="1" u="sng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 of Projectees</a:t>
            </a: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lang="en-US" sz="45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lang="en-US" sz="45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endParaRPr lang="en-US" sz="45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lang="en-US" sz="45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kumimoji="0" lang="en-US" sz="4500" b="1" i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4320" marR="0" indent="-274320" defTabSz="914400" fontAlgn="auto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Tx/>
              <a:buNone/>
              <a:defRPr/>
            </a:pPr>
            <a:r>
              <a:rPr kumimoji="0" lang="en-US" sz="45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                                  Session 2025-26</a:t>
            </a:r>
            <a:endParaRPr kumimoji="0" lang="en-US" sz="26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077" name="Rectangle 5"/>
          <p:cNvSpPr txBox="1"/>
          <p:nvPr/>
        </p:nvSpPr>
        <p:spPr>
          <a:xfrm>
            <a:off x="1981200" y="2693988"/>
            <a:ext cx="8229600" cy="34163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 Project Title </a:t>
            </a:r>
            <a:r>
              <a:rPr lang="en-US" sz="18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altLang="en-US" sz="2400" b="1" i="1" u="sng" dirty="0">
              <a:solidFill>
                <a:srgbClr val="FF0000"/>
              </a:solidFill>
              <a:latin typeface="Castellar" panose="020A0402060406010301" pitchFamily="18" charset="0"/>
              <a:ea typeface="Arial" panose="020B0604020202020204" pitchFamily="34" charset="0"/>
            </a:endParaRPr>
          </a:p>
        </p:txBody>
      </p:sp>
      <p:sp>
        <p:nvSpPr>
          <p:cNvPr id="3078" name="Rectangle 5"/>
          <p:cNvSpPr txBox="1"/>
          <p:nvPr/>
        </p:nvSpPr>
        <p:spPr>
          <a:xfrm>
            <a:off x="1981200" y="1676400"/>
            <a:ext cx="8229600" cy="42473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>
                <a:latin typeface="Times New Roman" panose="02020603050405020304" pitchFamily="18" charset="0"/>
              </a:rPr>
              <a:t>A  Project  </a:t>
            </a:r>
            <a:endParaRPr lang="en-US" altLang="en-US" sz="2400" b="1" i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79" name="Rectangle 5"/>
          <p:cNvSpPr txBox="1"/>
          <p:nvPr/>
        </p:nvSpPr>
        <p:spPr>
          <a:xfrm>
            <a:off x="1981200" y="2086610"/>
            <a:ext cx="8229600" cy="425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altLang="en-US" sz="2400" b="1" i="1" dirty="0">
                <a:latin typeface="Times New Roman" panose="02020603050405020304" pitchFamily="18" charset="0"/>
              </a:rPr>
              <a:t>On</a:t>
            </a:r>
            <a:endParaRPr lang="en-US" altLang="en-US" sz="2400" b="1" i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080" name="Picture 2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3" y="461963"/>
            <a:ext cx="1144587" cy="1101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81" name="Rectangle 8"/>
          <p:cNvSpPr/>
          <p:nvPr/>
        </p:nvSpPr>
        <p:spPr>
          <a:xfrm>
            <a:off x="0" y="156071"/>
            <a:ext cx="12012613" cy="1538883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marL="742950" lvl="1" indent="-285750" defTabSz="914400" eaLnBrk="1" hangingPunct="1">
              <a:spcBef>
                <a:spcPts val="500"/>
              </a:spcBef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altLang="en-US" sz="2300" b="1" dirty="0">
                <a:solidFill>
                  <a:srgbClr val="AB0000"/>
                </a:solidFill>
                <a:latin typeface="Times New Roman" panose="02020603050405020304" pitchFamily="18" charset="0"/>
              </a:rPr>
              <a:t>                                     </a:t>
            </a:r>
            <a:r>
              <a:rPr lang="en-US" altLang="en-US" sz="2400" b="1" dirty="0">
                <a:solidFill>
                  <a:srgbClr val="7030A0"/>
                </a:solidFill>
                <a:latin typeface="Times New Roman" panose="02020603050405020304" pitchFamily="18" charset="0"/>
              </a:rPr>
              <a:t>G H RAISONI UNIVERSITY, AMRAVATI</a:t>
            </a:r>
            <a:r>
              <a:rPr lang="en-US" altLang="en-US" sz="2300" b="1" dirty="0">
                <a:solidFill>
                  <a:srgbClr val="AB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rgbClr val="AB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en-US" sz="2400" b="1" dirty="0">
                <a:solidFill>
                  <a:srgbClr val="AB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600" b="1" dirty="0">
                <a:solidFill>
                  <a:srgbClr val="AB0000"/>
                </a:solidFill>
                <a:latin typeface="Times New Roman" panose="02020603050405020304" pitchFamily="18" charset="0"/>
              </a:rPr>
              <a:t>                                                                                       </a:t>
            </a:r>
          </a:p>
          <a:p>
            <a:r>
              <a:rPr lang="en-US" b="1" dirty="0"/>
              <a:t>                                         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H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Raisoni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Nagar,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Anjangaon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Bari Road, Amravati, Pin: 444701(MH)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Phone: +91-8799928631/ +91-8799928630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Email: </a:t>
            </a:r>
            <a:r>
              <a:rPr lang="en-US" sz="1600" b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info.amravati@ghru.edu.in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Web: - </a:t>
            </a:r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www.gh</a:t>
            </a:r>
            <a:r>
              <a:rPr lang="en-US" sz="1600" b="1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ru</a:t>
            </a:r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.</a:t>
            </a:r>
            <a:r>
              <a:rPr lang="en-US" sz="1600" b="1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edu</a:t>
            </a: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.</a:t>
            </a:r>
            <a:r>
              <a:rPr lang="en-IN" sz="1600" b="1" u="sng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i</a:t>
            </a: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400" eaLnBrk="0" hangingPunct="0">
              <a:buFont typeface="Arial" panose="020B0604020202020204" pitchFamily="34" charset="0"/>
              <a:tabLst>
                <a:tab pos="1303655" algn="r"/>
                <a:tab pos="2865755" algn="ctr"/>
                <a:tab pos="5730875" algn="r"/>
              </a:tabLst>
            </a:pPr>
            <a:r>
              <a:rPr lang="en-US" sz="2000" b="1" dirty="0">
                <a:latin typeface="Times New Roman" panose="02020603050405020304" pitchFamily="18" charset="0"/>
              </a:rPr>
              <a:t>Department of BCA</a:t>
            </a:r>
          </a:p>
        </p:txBody>
      </p:sp>
      <p:pic>
        <p:nvPicPr>
          <p:cNvPr id="12" name="Picture 11"/>
          <p:cNvPicPr/>
          <p:nvPr/>
        </p:nvPicPr>
        <p:blipFill>
          <a:blip r:embed="rId5"/>
          <a:stretch>
            <a:fillRect/>
          </a:stretch>
        </p:blipFill>
        <p:spPr>
          <a:xfrm>
            <a:off x="214313" y="263236"/>
            <a:ext cx="2362632" cy="13004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8B308-CDE4-4C98-6D97-86AA23953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9F17BA1E-A89F-66CE-44E2-1DB7CE831E9D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232434A-00E0-119C-07EF-6F4AA5A1FB20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9A57CD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kumimoji="0" lang="en-US" sz="3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A5F058-B9FA-C8F5-9C77-BDC6DBDFEEEA}"/>
              </a:ext>
            </a:extLst>
          </p:cNvPr>
          <p:cNvSpPr txBox="1"/>
          <p:nvPr/>
        </p:nvSpPr>
        <p:spPr>
          <a:xfrm>
            <a:off x="459075" y="1645680"/>
            <a:ext cx="56369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rise of Generative AI has fundamentally altered digital security. Audio deepfakes—synthetic speech created through high-fidelity voice cloning—have emerged as a critical threat to telecommunications.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CBFCC2-2F4C-349C-000A-4C7128EEC531}"/>
              </a:ext>
            </a:extLst>
          </p:cNvPr>
          <p:cNvSpPr txBox="1"/>
          <p:nvPr/>
        </p:nvSpPr>
        <p:spPr>
          <a:xfrm>
            <a:off x="459075" y="2894437"/>
            <a:ext cx="56369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addresses this by proposing an Integrated Deepfake Detector that unifying acoustic forensics with real-time intent analysis.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7F6118-5DDA-4FDB-0B07-0286A8B01F8E}"/>
              </a:ext>
            </a:extLst>
          </p:cNvPr>
          <p:cNvSpPr txBox="1"/>
          <p:nvPr/>
        </p:nvSpPr>
        <p:spPr>
          <a:xfrm>
            <a:off x="8489659" y="1879134"/>
            <a:ext cx="1098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BF84D4F-F0A3-B834-B4AC-E4110CED7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200" y="1439079"/>
            <a:ext cx="5095875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9557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CF95265-1B73-0446-2164-F0281FF0AE07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0" y="-66324"/>
            <a:ext cx="12192000" cy="681497"/>
          </a:xfrm>
          <a:prstGeom prst="rect">
            <a:avLst/>
          </a:prstGeom>
          <a:solidFill>
            <a:srgbClr val="9A57CD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kumimoji="0" lang="en-US" sz="3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EAF424-2910-C24B-74B4-582B237C13A0}"/>
              </a:ext>
            </a:extLst>
          </p:cNvPr>
          <p:cNvSpPr txBox="1"/>
          <p:nvPr/>
        </p:nvSpPr>
        <p:spPr>
          <a:xfrm>
            <a:off x="-2621115" y="2128127"/>
            <a:ext cx="155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793A4D54-DED4-ECD4-E1E9-399564365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665" y="2715173"/>
            <a:ext cx="3495675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6AE4E0-E87C-42DF-97D4-B123BA1D2F4E}"/>
              </a:ext>
            </a:extLst>
          </p:cNvPr>
          <p:cNvSpPr txBox="1"/>
          <p:nvPr/>
        </p:nvSpPr>
        <p:spPr>
          <a:xfrm>
            <a:off x="4558018" y="23458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15" name="Picture 6">
            <a:extLst>
              <a:ext uri="{FF2B5EF4-FFF2-40B4-BE49-F238E27FC236}">
                <a16:creationId xmlns:a16="http://schemas.microsoft.com/office/drawing/2014/main" id="{98DAB8A9-839C-80AF-5ECE-027DA7200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6173" y="2698093"/>
            <a:ext cx="3495675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82794BB0-1BDA-81B4-45DA-CEA8BE20C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831" y="2971800"/>
            <a:ext cx="581025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FB88BB3-EC3B-00F3-EBED-6E6658C11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139" y="2971800"/>
            <a:ext cx="466725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4">
            <a:extLst>
              <a:ext uri="{FF2B5EF4-FFF2-40B4-BE49-F238E27FC236}">
                <a16:creationId xmlns:a16="http://schemas.microsoft.com/office/drawing/2014/main" id="{BDC24E53-13C4-A8D6-253C-21EDE3655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8438" y="2971800"/>
            <a:ext cx="581025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>
            <a:extLst>
              <a:ext uri="{FF2B5EF4-FFF2-40B4-BE49-F238E27FC236}">
                <a16:creationId xmlns:a16="http://schemas.microsoft.com/office/drawing/2014/main" id="{A62E33FE-B25A-A3C8-B629-37A600968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58" y="2698093"/>
            <a:ext cx="3495674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83E3824B-C169-D412-541A-41F82F6ED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830" y="2971800"/>
            <a:ext cx="581025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74DEA91-9C04-94D3-E3E4-5E9C7A2B7A34}"/>
              </a:ext>
            </a:extLst>
          </p:cNvPr>
          <p:cNvSpPr txBox="1"/>
          <p:nvPr/>
        </p:nvSpPr>
        <p:spPr>
          <a:xfrm>
            <a:off x="659263" y="3500961"/>
            <a:ext cx="2821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Spectral Features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6EB279-9B88-3144-4863-3076A77D2094}"/>
              </a:ext>
            </a:extLst>
          </p:cNvPr>
          <p:cNvSpPr txBox="1"/>
          <p:nvPr/>
        </p:nvSpPr>
        <p:spPr>
          <a:xfrm>
            <a:off x="484209" y="4089845"/>
            <a:ext cx="31716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on MFCC and Constant-Q Transforms (CQT) captures "microscopic artifacts" in high-frequency regions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144A8F-D53E-056C-7B03-4309E6AB4208}"/>
              </a:ext>
            </a:extLst>
          </p:cNvPr>
          <p:cNvSpPr txBox="1"/>
          <p:nvPr/>
        </p:nvSpPr>
        <p:spPr>
          <a:xfrm>
            <a:off x="4670431" y="3500961"/>
            <a:ext cx="2851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Models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2FA3C3-194E-A422-6966-54BBD4EC19E6}"/>
              </a:ext>
            </a:extLst>
          </p:cNvPr>
          <p:cNvSpPr txBox="1"/>
          <p:nvPr/>
        </p:nvSpPr>
        <p:spPr>
          <a:xfrm>
            <a:off x="4423954" y="4089845"/>
            <a:ext cx="32657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studies prove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CNN-LSTM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hybrid architectures outperform traditional SVM or GMM models in accuracy.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7300AC-E5ED-780C-1669-5BB592AF9CE8}"/>
              </a:ext>
            </a:extLst>
          </p:cNvPr>
          <p:cNvSpPr txBox="1"/>
          <p:nvPr/>
        </p:nvSpPr>
        <p:spPr>
          <a:xfrm>
            <a:off x="8739580" y="3500961"/>
            <a:ext cx="2558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Intent Analysis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E7D13C-2414-A715-3CCA-ADCE35EBA1DF}"/>
              </a:ext>
            </a:extLst>
          </p:cNvPr>
          <p:cNvSpPr txBox="1"/>
          <p:nvPr/>
        </p:nvSpPr>
        <p:spPr>
          <a:xfrm>
            <a:off x="8412480" y="4089845"/>
            <a:ext cx="31612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linguistic patterns (urgency cues, financial jargon) helps flag "vishing" scams before they succeed.</a:t>
            </a:r>
          </a:p>
        </p:txBody>
      </p:sp>
    </p:spTree>
    <p:extLst>
      <p:ext uri="{BB962C8B-B14F-4D97-AF65-F5344CB8AC3E}">
        <p14:creationId xmlns:p14="http://schemas.microsoft.com/office/powerpoint/2010/main" val="3184695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5F88F-448E-553D-A87C-EF48D778B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B992181-4953-F8FC-3A68-AB1355A1FE91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0" y="-460"/>
            <a:ext cx="12192000" cy="681497"/>
          </a:xfrm>
          <a:prstGeom prst="rect">
            <a:avLst/>
          </a:prstGeom>
          <a:solidFill>
            <a:srgbClr val="9A57CD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kumimoji="0" lang="en-US" sz="3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6756B2E-7AFD-B788-E8C6-638E8838B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00" y="1727434"/>
            <a:ext cx="5286375" cy="3169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7B0557-47CF-6A95-FAFE-C2407A1FA9BD}"/>
              </a:ext>
            </a:extLst>
          </p:cNvPr>
          <p:cNvSpPr txBox="1"/>
          <p:nvPr/>
        </p:nvSpPr>
        <p:spPr>
          <a:xfrm>
            <a:off x="2110628" y="2111927"/>
            <a:ext cx="20313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200" b="1" dirty="0">
                <a:solidFill>
                  <a:schemeClr val="accent2"/>
                </a:solidFill>
              </a:rPr>
              <a:t>70%</a:t>
            </a:r>
            <a:endParaRPr lang="en-IN" sz="7200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F0C9A9-8EAF-18A0-C9D1-6917CC8CCC63}"/>
              </a:ext>
            </a:extLst>
          </p:cNvPr>
          <p:cNvSpPr txBox="1"/>
          <p:nvPr/>
        </p:nvSpPr>
        <p:spPr>
          <a:xfrm>
            <a:off x="1306802" y="3158367"/>
            <a:ext cx="36389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Deepfakes Evade Detectors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1FCBAA-80A5-6CAD-76C2-0040F511B60E}"/>
              </a:ext>
            </a:extLst>
          </p:cNvPr>
          <p:cNvSpPr txBox="1"/>
          <p:nvPr/>
        </p:nvSpPr>
        <p:spPr>
          <a:xfrm>
            <a:off x="726818" y="3624429"/>
            <a:ext cx="4798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tools focus solely on acoustic fingerprints, ignoring behavioral and intent-based red flags.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B9A3ED94-F8E5-F41C-9A03-A2C8E9DBC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835702"/>
            <a:ext cx="26670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CAEBEB62-31B5-BB6D-F641-8A0072F56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712091"/>
            <a:ext cx="26670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30C0DFBB-E4CC-C3D3-FBE8-1BD33E49B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588072"/>
            <a:ext cx="26670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B1080F-EC2A-7C14-0C73-C67FAC76E323}"/>
              </a:ext>
            </a:extLst>
          </p:cNvPr>
          <p:cNvSpPr txBox="1"/>
          <p:nvPr/>
        </p:nvSpPr>
        <p:spPr>
          <a:xfrm>
            <a:off x="6515100" y="1789169"/>
            <a:ext cx="4423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training on regional dialects like Marathi and Hindi.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4B0DC7-8B62-804D-AA4A-5D949A9A9801}"/>
              </a:ext>
            </a:extLst>
          </p:cNvPr>
          <p:cNvSpPr txBox="1"/>
          <p:nvPr/>
        </p:nvSpPr>
        <p:spPr>
          <a:xfrm>
            <a:off x="6515100" y="2665150"/>
            <a:ext cx="4646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Speed: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latency in existing server-side models prevents active blocking.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4BBFA0-C705-E6D5-0EB5-ECE2583DECBB}"/>
              </a:ext>
            </a:extLst>
          </p:cNvPr>
          <p:cNvSpPr txBox="1"/>
          <p:nvPr/>
        </p:nvSpPr>
        <p:spPr>
          <a:xfrm>
            <a:off x="6515100" y="3588479"/>
            <a:ext cx="4149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Absence: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Failure to integrate call metadata with voice analysis.</a:t>
            </a:r>
          </a:p>
        </p:txBody>
      </p:sp>
    </p:spTree>
    <p:extLst>
      <p:ext uri="{BB962C8B-B14F-4D97-AF65-F5344CB8AC3E}">
        <p14:creationId xmlns:p14="http://schemas.microsoft.com/office/powerpoint/2010/main" val="2902472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7577D-994D-37C9-2C19-C565700B1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36EDB4-137B-D789-7AE2-806D82383C63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0" y="8389"/>
            <a:ext cx="12192000" cy="681497"/>
          </a:xfrm>
          <a:prstGeom prst="rect">
            <a:avLst/>
          </a:prstGeom>
          <a:solidFill>
            <a:srgbClr val="9A57CD"/>
          </a:solidFill>
          <a:ln>
            <a:solidFill>
              <a:schemeClr val="tx1"/>
            </a:solidFill>
          </a:ln>
        </p:spPr>
        <p:txBody>
          <a:bodyPr anchor="ctr">
            <a:normAutofit fontScale="900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br>
              <a:rPr lang="en-IN" sz="3200" dirty="0"/>
            </a:b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223316D-A8E6-356F-3655-1290BF9F9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920" y="780176"/>
            <a:ext cx="5025006" cy="5981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D43673-1695-EF15-FE5D-8E0261FD07CF}"/>
              </a:ext>
            </a:extLst>
          </p:cNvPr>
          <p:cNvSpPr txBox="1"/>
          <p:nvPr/>
        </p:nvSpPr>
        <p:spPr>
          <a:xfrm>
            <a:off x="339634" y="1161916"/>
            <a:ext cx="5677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cloning technology allows scammers to impersonate trusted contacts using just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seconds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audio samples.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C0485-31C6-6F8F-852A-A2EB650DE9EC}"/>
              </a:ext>
            </a:extLst>
          </p:cNvPr>
          <p:cNvSpPr txBox="1"/>
          <p:nvPr/>
        </p:nvSpPr>
        <p:spPr>
          <a:xfrm>
            <a:off x="339634" y="1910945"/>
            <a:ext cx="19543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Impact: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FC35BF84-C30F-424F-6D6B-E7FAFBC99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34" y="2386377"/>
            <a:ext cx="26670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06AC726E-4DD2-BDF1-D2D3-B8AB0149B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34" y="3152775"/>
            <a:ext cx="26670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D71F2652-99F4-F4EB-2EB7-B3014FCA6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34" y="4148844"/>
            <a:ext cx="26670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5E4FA4-1ED7-4E6E-2F28-E5EC09E7BE35}"/>
              </a:ext>
            </a:extLst>
          </p:cNvPr>
          <p:cNvSpPr txBox="1"/>
          <p:nvPr/>
        </p:nvSpPr>
        <p:spPr>
          <a:xfrm>
            <a:off x="606334" y="2339823"/>
            <a:ext cx="4762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fraud losses exceed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$10 Billion annually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A91F4-B26F-5EDD-037E-51FC210315DA}"/>
              </a:ext>
            </a:extLst>
          </p:cNvPr>
          <p:cNvSpPr txBox="1"/>
          <p:nvPr/>
        </p:nvSpPr>
        <p:spPr>
          <a:xfrm>
            <a:off x="606335" y="3105834"/>
            <a:ext cx="4762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 manipulation exploits human ears' vulnerability to synthetic speech.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612047-5C82-B65D-868A-887C342F6A88}"/>
              </a:ext>
            </a:extLst>
          </p:cNvPr>
          <p:cNvSpPr txBox="1"/>
          <p:nvPr/>
        </p:nvSpPr>
        <p:spPr>
          <a:xfrm>
            <a:off x="606334" y="4101903"/>
            <a:ext cx="4762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Erosion of trust in digital voice communications and mobile banking.</a:t>
            </a:r>
          </a:p>
        </p:txBody>
      </p:sp>
    </p:spTree>
    <p:extLst>
      <p:ext uri="{BB962C8B-B14F-4D97-AF65-F5344CB8AC3E}">
        <p14:creationId xmlns:p14="http://schemas.microsoft.com/office/powerpoint/2010/main" val="4092396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285B4-5E2E-4008-7954-1F26BFDE7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BD742A3-A324-9018-E7F2-9E4F2E7230C2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0" y="-460"/>
            <a:ext cx="12192000" cy="681497"/>
          </a:xfrm>
          <a:prstGeom prst="rect">
            <a:avLst/>
          </a:prstGeom>
          <a:solidFill>
            <a:srgbClr val="9A57CD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OBJECTIVES</a:t>
            </a:r>
            <a:endParaRPr kumimoji="0" lang="en-US" sz="3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D5EEC4D-5189-435A-CEEC-027429E44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162" y="2186305"/>
            <a:ext cx="3495675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D3141A69-372C-0A4D-7F06-5A86F8E8B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011" y="2186305"/>
            <a:ext cx="3495675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7005B607-A7C5-0B99-48E1-26810CB0A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43" y="2186305"/>
            <a:ext cx="3495675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E3A062AF-DE80-7C2D-4585-F298C1709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117" y="2437002"/>
            <a:ext cx="466725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88B79D9E-85E0-2252-E976-C96E361F8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211" y="2437002"/>
            <a:ext cx="409575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>
            <a:extLst>
              <a:ext uri="{FF2B5EF4-FFF2-40B4-BE49-F238E27FC236}">
                <a16:creationId xmlns:a16="http://schemas.microsoft.com/office/drawing/2014/main" id="{5A623FFB-D5BE-7A07-97A6-F5E4CE294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6158" y="2437002"/>
            <a:ext cx="466725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BC12DA-C51B-B7ED-F39E-A0C7EF02E482}"/>
              </a:ext>
            </a:extLst>
          </p:cNvPr>
          <p:cNvSpPr txBox="1"/>
          <p:nvPr/>
        </p:nvSpPr>
        <p:spPr>
          <a:xfrm>
            <a:off x="1020046" y="3144899"/>
            <a:ext cx="2084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Precision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F75443-2F28-95C4-B629-EFE832E65FB2}"/>
              </a:ext>
            </a:extLst>
          </p:cNvPr>
          <p:cNvSpPr txBox="1"/>
          <p:nvPr/>
        </p:nvSpPr>
        <p:spPr>
          <a:xfrm>
            <a:off x="745407" y="3764928"/>
            <a:ext cx="26341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at least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97% precision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benchmark datasets like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ASVspoof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685F4-5440-CC68-1E25-AACC22F0350B}"/>
              </a:ext>
            </a:extLst>
          </p:cNvPr>
          <p:cNvSpPr txBox="1"/>
          <p:nvPr/>
        </p:nvSpPr>
        <p:spPr>
          <a:xfrm>
            <a:off x="5359258" y="3144899"/>
            <a:ext cx="147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Latency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800B8D-5722-A039-52D5-60961AE49293}"/>
              </a:ext>
            </a:extLst>
          </p:cNvPr>
          <p:cNvSpPr txBox="1"/>
          <p:nvPr/>
        </p:nvSpPr>
        <p:spPr>
          <a:xfrm>
            <a:off x="4773336" y="3764928"/>
            <a:ext cx="26509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audio in under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seconds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real-time scam alerts during live calls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378DF-4574-73DB-B334-11DF8C4FFCF9}"/>
              </a:ext>
            </a:extLst>
          </p:cNvPr>
          <p:cNvSpPr txBox="1"/>
          <p:nvPr/>
        </p:nvSpPr>
        <p:spPr>
          <a:xfrm>
            <a:off x="9383161" y="3144899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Privacy-First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30E7A-3B1C-EFAC-819C-76F452F963F8}"/>
              </a:ext>
            </a:extLst>
          </p:cNvPr>
          <p:cNvSpPr txBox="1"/>
          <p:nvPr/>
        </p:nvSpPr>
        <p:spPr>
          <a:xfrm>
            <a:off x="8921504" y="3764928"/>
            <a:ext cx="24160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on-device inference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call data never leaves the user's smartphone.</a:t>
            </a:r>
          </a:p>
        </p:txBody>
      </p:sp>
    </p:spTree>
    <p:extLst>
      <p:ext uri="{BB962C8B-B14F-4D97-AF65-F5344CB8AC3E}">
        <p14:creationId xmlns:p14="http://schemas.microsoft.com/office/powerpoint/2010/main" val="4205993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08BA1-B762-0075-6D5A-3028CBF92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A16BC78-1D9B-4303-191A-EA7416B784EF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0" y="-460"/>
            <a:ext cx="12192000" cy="681497"/>
          </a:xfrm>
          <a:prstGeom prst="rect">
            <a:avLst/>
          </a:prstGeom>
          <a:solidFill>
            <a:srgbClr val="9A57CD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AND LIMITATIONS</a:t>
            </a:r>
            <a:endParaRPr kumimoji="0" lang="en-US" sz="3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9AD341A-4534-C8C4-C2D4-F46219AD7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779347"/>
              </p:ext>
            </p:extLst>
          </p:nvPr>
        </p:nvGraphicFramePr>
        <p:xfrm>
          <a:off x="827314" y="1407454"/>
          <a:ext cx="10197738" cy="4043092"/>
        </p:xfrm>
        <a:graphic>
          <a:graphicData uri="http://schemas.openxmlformats.org/drawingml/2006/table">
            <a:tbl>
              <a:tblPr/>
              <a:tblGrid>
                <a:gridCol w="2029623">
                  <a:extLst>
                    <a:ext uri="{9D8B030D-6E8A-4147-A177-3AD203B41FA5}">
                      <a16:colId xmlns:a16="http://schemas.microsoft.com/office/drawing/2014/main" val="3356537346"/>
                    </a:ext>
                  </a:extLst>
                </a:gridCol>
                <a:gridCol w="3711203">
                  <a:extLst>
                    <a:ext uri="{9D8B030D-6E8A-4147-A177-3AD203B41FA5}">
                      <a16:colId xmlns:a16="http://schemas.microsoft.com/office/drawing/2014/main" val="2280992638"/>
                    </a:ext>
                  </a:extLst>
                </a:gridCol>
                <a:gridCol w="4456912">
                  <a:extLst>
                    <a:ext uri="{9D8B030D-6E8A-4147-A177-3AD203B41FA5}">
                      <a16:colId xmlns:a16="http://schemas.microsoft.com/office/drawing/2014/main" val="2100584977"/>
                    </a:ext>
                  </a:extLst>
                </a:gridCol>
              </a:tblGrid>
              <a:tr h="101077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B5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Scope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B5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Inherent Limitations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B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154072"/>
                  </a:ext>
                </a:extLst>
              </a:tr>
              <a:tr h="101077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500" b="1" i="0" u="none" strike="noStrike" dirty="0">
                          <a:solidFill>
                            <a:srgbClr val="47556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Platforms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47556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Android/iOS, VoIP (WhatsApp)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47556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support for legacy PSTN lines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39097"/>
                  </a:ext>
                </a:extLst>
              </a:tr>
              <a:tr h="101077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500" b="1" i="0" u="none" strike="noStrike" dirty="0">
                          <a:solidFill>
                            <a:srgbClr val="47556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Languages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B5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47556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English, Hindi, Marathi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B5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47556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Struggles with heavy local accents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B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314962"/>
                  </a:ext>
                </a:extLst>
              </a:tr>
              <a:tr h="101077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500" b="1" i="0" u="none" strike="noStrike" dirty="0">
                          <a:solidFill>
                            <a:srgbClr val="47556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47556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call monitoring</a:t>
                      </a:r>
                      <a:endParaRPr lang="en-I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47556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Degrades with high background noise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005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666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13AC7-E5F2-579F-98B2-21F5E9D68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2615D78-A060-2711-5D50-00585CD7E400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0" y="-460"/>
            <a:ext cx="12192000" cy="681497"/>
          </a:xfrm>
          <a:prstGeom prst="rect">
            <a:avLst/>
          </a:prstGeom>
          <a:solidFill>
            <a:srgbClr val="9A57CD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SCHEME</a:t>
            </a:r>
            <a:endParaRPr kumimoji="0" lang="en-US" sz="3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40838E-0D95-8407-606F-DA51B3A4DF09}"/>
              </a:ext>
            </a:extLst>
          </p:cNvPr>
          <p:cNvSpPr txBox="1"/>
          <p:nvPr/>
        </p:nvSpPr>
        <p:spPr>
          <a:xfrm>
            <a:off x="51277" y="3422061"/>
            <a:ext cx="12089287" cy="45719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endParaRPr lang="en-IN" sz="100" dirty="0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E67989A1-BE47-06D9-C9FC-3B4E314E3475}"/>
              </a:ext>
            </a:extLst>
          </p:cNvPr>
          <p:cNvSpPr/>
          <p:nvPr/>
        </p:nvSpPr>
        <p:spPr>
          <a:xfrm>
            <a:off x="481925" y="2869184"/>
            <a:ext cx="360727" cy="361039"/>
          </a:xfrm>
          <a:prstGeom prst="flowChartConnector">
            <a:avLst/>
          </a:prstGeom>
          <a:solidFill>
            <a:schemeClr val="accent2">
              <a:lumMod val="50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4E44A3-4836-19B9-17C7-B29BE63B13AC}"/>
              </a:ext>
            </a:extLst>
          </p:cNvPr>
          <p:cNvSpPr txBox="1"/>
          <p:nvPr/>
        </p:nvSpPr>
        <p:spPr>
          <a:xfrm>
            <a:off x="123906" y="3490341"/>
            <a:ext cx="10642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1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1CB15C-1226-D664-6966-0AFDB2A93567}"/>
              </a:ext>
            </a:extLst>
          </p:cNvPr>
          <p:cNvSpPr txBox="1"/>
          <p:nvPr/>
        </p:nvSpPr>
        <p:spPr>
          <a:xfrm>
            <a:off x="7012" y="3818153"/>
            <a:ext cx="13003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B2A75D67-722A-9B3C-BB8E-88CC2658B106}"/>
              </a:ext>
            </a:extLst>
          </p:cNvPr>
          <p:cNvSpPr/>
          <p:nvPr/>
        </p:nvSpPr>
        <p:spPr>
          <a:xfrm>
            <a:off x="1956923" y="2869183"/>
            <a:ext cx="360727" cy="361039"/>
          </a:xfrm>
          <a:prstGeom prst="flowChartConnector">
            <a:avLst/>
          </a:prstGeom>
          <a:solidFill>
            <a:schemeClr val="accent2">
              <a:lumMod val="50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4CD285-D58B-7949-AEA6-B13A867183C4}"/>
              </a:ext>
            </a:extLst>
          </p:cNvPr>
          <p:cNvSpPr txBox="1"/>
          <p:nvPr/>
        </p:nvSpPr>
        <p:spPr>
          <a:xfrm>
            <a:off x="1633768" y="3485720"/>
            <a:ext cx="10642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2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420A84-05CC-7FF4-9826-A8AB0CF36853}"/>
              </a:ext>
            </a:extLst>
          </p:cNvPr>
          <p:cNvSpPr txBox="1"/>
          <p:nvPr/>
        </p:nvSpPr>
        <p:spPr>
          <a:xfrm>
            <a:off x="1394134" y="3829624"/>
            <a:ext cx="1486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95281F4D-A087-36A0-920D-0B6D1947B453}"/>
              </a:ext>
            </a:extLst>
          </p:cNvPr>
          <p:cNvSpPr/>
          <p:nvPr/>
        </p:nvSpPr>
        <p:spPr>
          <a:xfrm>
            <a:off x="3431921" y="2859343"/>
            <a:ext cx="360727" cy="361039"/>
          </a:xfrm>
          <a:prstGeom prst="flowChartConnector">
            <a:avLst/>
          </a:prstGeom>
          <a:solidFill>
            <a:schemeClr val="accent2">
              <a:lumMod val="50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EACFE8C5-E6BA-C45E-87AB-069AAC702F90}"/>
              </a:ext>
            </a:extLst>
          </p:cNvPr>
          <p:cNvSpPr/>
          <p:nvPr/>
        </p:nvSpPr>
        <p:spPr>
          <a:xfrm>
            <a:off x="4906919" y="2869182"/>
            <a:ext cx="360727" cy="361039"/>
          </a:xfrm>
          <a:prstGeom prst="flowChartConnector">
            <a:avLst/>
          </a:prstGeom>
          <a:solidFill>
            <a:schemeClr val="accent2">
              <a:lumMod val="50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CE7B2FDC-64FF-6B39-3684-0B4564CA069C}"/>
              </a:ext>
            </a:extLst>
          </p:cNvPr>
          <p:cNvSpPr/>
          <p:nvPr/>
        </p:nvSpPr>
        <p:spPr>
          <a:xfrm>
            <a:off x="7856915" y="2869180"/>
            <a:ext cx="360727" cy="361039"/>
          </a:xfrm>
          <a:prstGeom prst="flowChartConnector">
            <a:avLst/>
          </a:prstGeom>
          <a:solidFill>
            <a:schemeClr val="accent2">
              <a:lumMod val="50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B32EBD7B-ED33-90FD-C4BB-5817169050FA}"/>
              </a:ext>
            </a:extLst>
          </p:cNvPr>
          <p:cNvSpPr/>
          <p:nvPr/>
        </p:nvSpPr>
        <p:spPr>
          <a:xfrm>
            <a:off x="6381917" y="2869181"/>
            <a:ext cx="360727" cy="361039"/>
          </a:xfrm>
          <a:prstGeom prst="flowChartConnector">
            <a:avLst/>
          </a:prstGeom>
          <a:solidFill>
            <a:schemeClr val="accent2">
              <a:lumMod val="50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A39D6E1A-C94E-D4B9-8551-4AE5D5B73C0C}"/>
              </a:ext>
            </a:extLst>
          </p:cNvPr>
          <p:cNvSpPr/>
          <p:nvPr/>
        </p:nvSpPr>
        <p:spPr>
          <a:xfrm>
            <a:off x="9331913" y="2859343"/>
            <a:ext cx="360727" cy="361039"/>
          </a:xfrm>
          <a:prstGeom prst="flowChartConnector">
            <a:avLst/>
          </a:prstGeom>
          <a:solidFill>
            <a:schemeClr val="accent2">
              <a:lumMod val="50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201B6282-7199-1821-5534-755ED59D0F48}"/>
              </a:ext>
            </a:extLst>
          </p:cNvPr>
          <p:cNvSpPr/>
          <p:nvPr/>
        </p:nvSpPr>
        <p:spPr>
          <a:xfrm>
            <a:off x="10806911" y="2869179"/>
            <a:ext cx="360727" cy="361039"/>
          </a:xfrm>
          <a:prstGeom prst="flowChartConnector">
            <a:avLst/>
          </a:prstGeom>
          <a:solidFill>
            <a:schemeClr val="accent2">
              <a:lumMod val="50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F060A6-63BC-E4F5-5DDB-646E5C24EFB3}"/>
              </a:ext>
            </a:extLst>
          </p:cNvPr>
          <p:cNvSpPr txBox="1"/>
          <p:nvPr/>
        </p:nvSpPr>
        <p:spPr>
          <a:xfrm>
            <a:off x="3077662" y="3490341"/>
            <a:ext cx="10642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3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2A8786-B1A0-8396-7F27-E9168BF82313}"/>
              </a:ext>
            </a:extLst>
          </p:cNvPr>
          <p:cNvSpPr txBox="1"/>
          <p:nvPr/>
        </p:nvSpPr>
        <p:spPr>
          <a:xfrm>
            <a:off x="3024370" y="3828895"/>
            <a:ext cx="118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11C092-EBB5-F43D-27E4-3DE8120025F8}"/>
              </a:ext>
            </a:extLst>
          </p:cNvPr>
          <p:cNvSpPr txBox="1"/>
          <p:nvPr/>
        </p:nvSpPr>
        <p:spPr>
          <a:xfrm>
            <a:off x="4555181" y="3495271"/>
            <a:ext cx="10642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4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910692-7E56-B97C-28D8-2A0A222BA7CA}"/>
              </a:ext>
            </a:extLst>
          </p:cNvPr>
          <p:cNvSpPr txBox="1"/>
          <p:nvPr/>
        </p:nvSpPr>
        <p:spPr>
          <a:xfrm>
            <a:off x="4309665" y="3830934"/>
            <a:ext cx="15552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4D5A08-9D36-BAFC-4201-1A4FB3C87C8F}"/>
              </a:ext>
            </a:extLst>
          </p:cNvPr>
          <p:cNvSpPr txBox="1"/>
          <p:nvPr/>
        </p:nvSpPr>
        <p:spPr>
          <a:xfrm>
            <a:off x="6040518" y="3487506"/>
            <a:ext cx="10642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5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08F0F3-4171-A184-757B-6684A57120B8}"/>
              </a:ext>
            </a:extLst>
          </p:cNvPr>
          <p:cNvSpPr txBox="1"/>
          <p:nvPr/>
        </p:nvSpPr>
        <p:spPr>
          <a:xfrm>
            <a:off x="5761339" y="3824274"/>
            <a:ext cx="16225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Objectives</a:t>
            </a:r>
            <a:endParaRPr lang="en-IN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A0CC83D-8BEB-6396-B94F-82BC140524A0}"/>
              </a:ext>
            </a:extLst>
          </p:cNvPr>
          <p:cNvSpPr txBox="1"/>
          <p:nvPr/>
        </p:nvSpPr>
        <p:spPr>
          <a:xfrm>
            <a:off x="7518037" y="3496433"/>
            <a:ext cx="10642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6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3BD545-F46B-EC2D-9C45-0571F2AF0B36}"/>
              </a:ext>
            </a:extLst>
          </p:cNvPr>
          <p:cNvSpPr txBox="1"/>
          <p:nvPr/>
        </p:nvSpPr>
        <p:spPr>
          <a:xfrm>
            <a:off x="7531370" y="3818153"/>
            <a:ext cx="1011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and </a:t>
            </a:r>
          </a:p>
          <a:p>
            <a:pPr algn="ctr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FD8895-3959-81C2-2A9C-F7E5FB215B42}"/>
              </a:ext>
            </a:extLst>
          </p:cNvPr>
          <p:cNvSpPr txBox="1"/>
          <p:nvPr/>
        </p:nvSpPr>
        <p:spPr>
          <a:xfrm>
            <a:off x="8980175" y="3495951"/>
            <a:ext cx="10642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7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F925F6-652B-968A-A021-2398EE3C8EF5}"/>
              </a:ext>
            </a:extLst>
          </p:cNvPr>
          <p:cNvSpPr txBox="1"/>
          <p:nvPr/>
        </p:nvSpPr>
        <p:spPr>
          <a:xfrm>
            <a:off x="8797978" y="3833825"/>
            <a:ext cx="1428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</a:t>
            </a:r>
            <a:endParaRPr lang="en-IN" sz="1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95DCC6B-AFF9-32A2-55CE-6316CB6987CF}"/>
              </a:ext>
            </a:extLst>
          </p:cNvPr>
          <p:cNvSpPr txBox="1"/>
          <p:nvPr/>
        </p:nvSpPr>
        <p:spPr>
          <a:xfrm>
            <a:off x="10457694" y="3495271"/>
            <a:ext cx="10642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8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CF5373-E70F-18CF-0D40-DF68AC93370C}"/>
              </a:ext>
            </a:extLst>
          </p:cNvPr>
          <p:cNvSpPr txBox="1"/>
          <p:nvPr/>
        </p:nvSpPr>
        <p:spPr>
          <a:xfrm>
            <a:off x="10515831" y="3826060"/>
            <a:ext cx="9845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244168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C0061-BC4D-E52E-932B-59383F141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1812B24-B3F7-751A-0244-6C7FFE930759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0" y="-460"/>
            <a:ext cx="12192000" cy="681497"/>
          </a:xfrm>
          <a:prstGeom prst="rect">
            <a:avLst/>
          </a:prstGeom>
          <a:solidFill>
            <a:srgbClr val="9A57CD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</a:t>
            </a:r>
            <a:endParaRPr kumimoji="0" lang="en-US" sz="3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6CE228-4FAF-A37A-86A1-D3DCB7BDF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114424"/>
            <a:ext cx="11049000" cy="5269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7491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7F57-16D1-DE28-E449-FE69F4731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59D34CD-CEDE-F052-3D17-AD65476A9D13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0" y="-460"/>
            <a:ext cx="12192000" cy="681497"/>
          </a:xfrm>
          <a:prstGeom prst="rect">
            <a:avLst/>
          </a:prstGeom>
          <a:solidFill>
            <a:srgbClr val="9A57CD"/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kumimoji="0" lang="en-US" sz="3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B4DE0D1-3AAC-ABD1-39ED-2FEE76936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73" y="2654504"/>
            <a:ext cx="26670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8314DD8E-1DEB-3590-DB9E-FCF427592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73" y="3290887"/>
            <a:ext cx="26670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ABEE68DD-5FF7-72E0-D254-716102F49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73" y="3927270"/>
            <a:ext cx="26670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0ADE6546-0D0E-CFB6-AA57-CA1DCC956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73" y="4563653"/>
            <a:ext cx="26670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B5A064-8CBC-4F07-8CEB-DB85282CF87B}"/>
              </a:ext>
            </a:extLst>
          </p:cNvPr>
          <p:cNvSpPr txBox="1"/>
          <p:nvPr/>
        </p:nvSpPr>
        <p:spPr>
          <a:xfrm>
            <a:off x="801673" y="2607950"/>
            <a:ext cx="10349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X. Liu et al.,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ASVspoof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5: The Fifth Automatic Speaker Verification Spoofing Challenge,"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Interspeech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2024.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1B59E6-90F2-54FD-81DC-84B04B32E077}"/>
              </a:ext>
            </a:extLst>
          </p:cNvPr>
          <p:cNvSpPr txBox="1"/>
          <p:nvPr/>
        </p:nvSpPr>
        <p:spPr>
          <a:xfrm>
            <a:off x="801673" y="3244333"/>
            <a:ext cx="8717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B.B. Gupta et al., "BERT and CNN-Based Phishing Detection in Enterprise Systems," 2024.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AF9FAA-5712-464E-8606-6622A81F5C5E}"/>
              </a:ext>
            </a:extLst>
          </p:cNvPr>
          <p:cNvSpPr txBox="1"/>
          <p:nvPr/>
        </p:nvSpPr>
        <p:spPr>
          <a:xfrm>
            <a:off x="801673" y="3880716"/>
            <a:ext cx="8884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“Artificial Intelligence Act: Transparency Obligations for Deepfakes," European Union, 2024.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9E68E3-FA28-7779-AA9E-223ACD0878A9}"/>
              </a:ext>
            </a:extLst>
          </p:cNvPr>
          <p:cNvSpPr txBox="1"/>
          <p:nvPr/>
        </p:nvSpPr>
        <p:spPr>
          <a:xfrm>
            <a:off x="801673" y="4517099"/>
            <a:ext cx="9658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Shubham Gale | Nirmal Poreddiwar, "Deepfake Voice and Scam Call Detector," IJTSRD, March 2026.</a:t>
            </a:r>
          </a:p>
        </p:txBody>
      </p:sp>
    </p:spTree>
    <p:extLst>
      <p:ext uri="{BB962C8B-B14F-4D97-AF65-F5344CB8AC3E}">
        <p14:creationId xmlns:p14="http://schemas.microsoft.com/office/powerpoint/2010/main" val="674863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314" name="Title 1"/>
          <p:cNvSpPr txBox="1"/>
          <p:nvPr/>
        </p:nvSpPr>
        <p:spPr>
          <a:xfrm>
            <a:off x="2251075" y="106997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66888" y="1978025"/>
            <a:ext cx="8207375" cy="18621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500" b="1" i="1" u="none" strike="noStrike" kern="1200" cap="none" spc="0" normalizeH="0" baseline="0" noProof="0" dirty="0">
                <a:ln w="3175"/>
                <a:solidFill>
                  <a:srgbClr val="7030A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Bodoni MT" panose="02070603080606020203" pitchFamily="18" charset="0"/>
                <a:ea typeface="+mn-ea"/>
                <a:cs typeface="+mn-cs"/>
              </a:rPr>
              <a:t>Thank you !</a:t>
            </a:r>
            <a:endParaRPr kumimoji="0" lang="en-IN" sz="11500" b="1" i="1" u="none" strike="noStrike" kern="1200" cap="none" spc="0" normalizeH="0" baseline="0" noProof="0" dirty="0">
              <a:ln w="3175"/>
              <a:solidFill>
                <a:srgbClr val="7030A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Bodoni MT" panose="02070603080606020203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1964</TotalTime>
  <Words>528</Words>
  <Application>Microsoft Office PowerPoint</Application>
  <PresentationFormat>Widescreen</PresentationFormat>
  <Paragraphs>93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Bodoni MT</vt:lpstr>
      <vt:lpstr>Calibri</vt:lpstr>
      <vt:lpstr>Calibri Light</vt:lpstr>
      <vt:lpstr>Castellar</vt:lpstr>
      <vt:lpstr>Times New Roman</vt:lpstr>
      <vt:lpstr>Office Theme</vt:lpstr>
      <vt:lpstr>1_Office Theme</vt:lpstr>
      <vt:lpstr>PowerPoint Presentation</vt:lpstr>
      <vt:lpstr>PowerPoint Presentation</vt:lpstr>
      <vt:lpstr>LITERATURE REVIEW</vt:lpstr>
      <vt:lpstr>RESEARCH GAP</vt:lpstr>
      <vt:lpstr> PROBLEM STATEMENT </vt:lpstr>
      <vt:lpstr>AIM AND OBJECTIVES</vt:lpstr>
      <vt:lpstr>SCOPE AND LIMITATIONS</vt:lpstr>
      <vt:lpstr>CHAPTER SCHEME</vt:lpstr>
      <vt:lpstr>EXPECTED RESULT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user1</dc:creator>
  <cp:lastModifiedBy>nirmal poreddiwar</cp:lastModifiedBy>
  <cp:revision>119</cp:revision>
  <cp:lastPrinted>2018-01-20T12:20:00Z</cp:lastPrinted>
  <dcterms:created xsi:type="dcterms:W3CDTF">2018-01-20T09:03:00Z</dcterms:created>
  <dcterms:modified xsi:type="dcterms:W3CDTF">2026-05-02T06:37:15Z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1033-11.2.0.10258</vt:lpwstr>
  </property>
  <property fmtid="{D5CDD505-2E9C-101B-9397-08002B2CF9AE}" pid="3" name="ICV">
    <vt:lpwstr>E8D44B7623514F2E894E82A1D1A1801D</vt:lpwstr>
  </property>
</Properties>
</file>